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ndyn\Downloads\Bright_Coffee_Pivot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ndyn\Downloads\Bright_Coffee_Pivot_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1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ndyn\Downloads\Bright_Coffee_Pivot_Analysi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andyn\OneDrive\Desktop\Data%20Analytics\Projects\Bright%20Coffee%20Shop%20Processed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[Bright_Coffee_Pivot_Analysis.xlsx]Revenue_by_Store!PivotTable7</c:name>
    <c:fmtId val="-1"/>
  </c:pivotSource>
  <c:chart>
    <c:autoTitleDeleted val="1"/>
    <c:plotArea>
      <c:layout/>
      <c:pieChart>
        <c:varyColors val="1"/>
        <c:ser>
          <c:idx val="0"/>
          <c:order val="0"/>
          <c:tx>
            <c:strRef>
              <c:f>[Bright_Coffee_Pivot_Analysis.xlsx]Revenue_by_Store!$B$1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[Bright_Coffee_Pivot_Analysis.xlsx]Revenue_by_Store!$A$2:$A$5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[Bright_Coffee_Pivot_Analysis.xlsx]Revenue_by_Store!$B$2:$B$5</c:f>
              <c:numCache>
                <c:formatCode>General</c:formatCode>
                <c:ptCount val="3"/>
                <c:pt idx="0">
                  <c:v>232243.91</c:v>
                </c:pt>
                <c:pt idx="1">
                  <c:v>236511.17</c:v>
                </c:pt>
                <c:pt idx="2">
                  <c:v>230057.25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39ce63d-4605-4fcb-ab9f-82f0754b803c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[Bright_Coffee_Pivot_Analysis.xlsx]Revenue_by_Store!PivotTable7</c:name>
    <c:fmtId val="-1"/>
  </c:pivotSource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[Bright_Coffee_Pivot_Analysis.xlsx]Revenue_by_Store!$B$1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[Bright_Coffee_Pivot_Analysis.xlsx]Revenue_by_Store!$A$2:$A$5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[Bright_Coffee_Pivot_Analysis.xlsx]Revenue_by_Store!$B$2:$B$5</c:f>
              <c:numCache>
                <c:formatCode>General</c:formatCode>
                <c:ptCount val="3"/>
                <c:pt idx="0">
                  <c:v>232243.91</c:v>
                </c:pt>
                <c:pt idx="1">
                  <c:v>236511.17</c:v>
                </c:pt>
                <c:pt idx="2">
                  <c:v>230057.25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808516380"/>
        <c:axId val="951911446"/>
      </c:barChart>
      <c:catAx>
        <c:axId val="8085163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1911446"/>
        <c:crosses val="autoZero"/>
        <c:auto val="1"/>
        <c:lblAlgn val="ctr"/>
        <c:lblOffset val="100"/>
        <c:noMultiLvlLbl val="0"/>
      </c:catAx>
      <c:valAx>
        <c:axId val="95191144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085163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93738140417457"/>
          <c:y val="0.5033767486734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211ba9d-b509-4712-920b-8a9ac6f85657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[Bright_Coffee_Pivot_Analysis.xlsx]Revenue_by_Day!PivotTable4</c:name>
    <c:fmtId val="-1"/>
  </c:pivotSource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Revenue_by_Day!$B$1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Revenue_by_Day!$A$2:$A$9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Revenue_by_Day!$B$2:$B$9</c:f>
              <c:numCache>
                <c:formatCode>General</c:formatCode>
                <c:ptCount val="7"/>
                <c:pt idx="0">
                  <c:v>98330.31</c:v>
                </c:pt>
                <c:pt idx="1">
                  <c:v>101677.28</c:v>
                </c:pt>
                <c:pt idx="2">
                  <c:v>99455.94</c:v>
                </c:pt>
                <c:pt idx="3">
                  <c:v>100313.54</c:v>
                </c:pt>
                <c:pt idx="4">
                  <c:v>100767.78</c:v>
                </c:pt>
                <c:pt idx="5">
                  <c:v>101373</c:v>
                </c:pt>
                <c:pt idx="6">
                  <c:v>96894.48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615712893"/>
        <c:axId val="347178837"/>
      </c:barChart>
      <c:catAx>
        <c:axId val="6157128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47178837"/>
        <c:crosses val="autoZero"/>
        <c:auto val="1"/>
        <c:lblAlgn val="ctr"/>
        <c:lblOffset val="100"/>
        <c:noMultiLvlLbl val="0"/>
      </c:catAx>
      <c:valAx>
        <c:axId val="34717883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571289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32a5c39-e77f-493e-ae16-af58eadb036c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[Bright_Coffee_Pivot_Analysis.xlsx]Revenue_by_Category!PivotTable5</c:name>
    <c:fmtId val="-1"/>
  </c:pivotSource>
  <c:chart>
    <c:autoTitleDeleted val="1"/>
    <c:plotArea>
      <c:layout>
        <c:manualLayout>
          <c:layoutTarget val="inner"/>
          <c:xMode val="edge"/>
          <c:yMode val="edge"/>
          <c:x val="0.104667939741142"/>
          <c:y val="0.055937193326791"/>
          <c:w val="0.767069806917038"/>
          <c:h val="0.701079489695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[Bright_Coffee_Pivot_Analysis.xlsx]Revenue_by_Category!$B$1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[Bright_Coffee_Pivot_Analysis.xlsx]Revenue_by_Category!$A$2:$A$11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[Bright_Coffee_Pivot_Analysis.xlsx]Revenue_by_Category!$B$2:$B$11</c:f>
              <c:numCache>
                <c:formatCode>General</c:formatCode>
                <c:ptCount val="9"/>
                <c:pt idx="0">
                  <c:v>82315.64</c:v>
                </c:pt>
                <c:pt idx="1">
                  <c:v>13607</c:v>
                </c:pt>
                <c:pt idx="2">
                  <c:v>269952.45</c:v>
                </c:pt>
                <c:pt idx="3">
                  <c:v>40085.25</c:v>
                </c:pt>
                <c:pt idx="4">
                  <c:v>72416</c:v>
                </c:pt>
                <c:pt idx="5">
                  <c:v>8408.8</c:v>
                </c:pt>
                <c:pt idx="6">
                  <c:v>11213.6</c:v>
                </c:pt>
                <c:pt idx="7">
                  <c:v>4407.64</c:v>
                </c:pt>
                <c:pt idx="8">
                  <c:v>196405.95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31040147"/>
        <c:axId val="21190084"/>
      </c:barChart>
      <c:catAx>
        <c:axId val="5310401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190084"/>
        <c:crosses val="autoZero"/>
        <c:auto val="1"/>
        <c:lblAlgn val="ctr"/>
        <c:lblOffset val="100"/>
        <c:noMultiLvlLbl val="0"/>
      </c:catAx>
      <c:valAx>
        <c:axId val="211900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310401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ce8a483-8d70-41fe-8fb0-ff52f40e815e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Processed data.xlsx]Sheet1!PivotTable8</c:name>
    <c:fmtId val="-1"/>
  </c:pivotSource>
  <c:chart>
    <c:autoTitleDeleted val="1"/>
    <c:plotArea>
      <c:layout>
        <c:manualLayout>
          <c:layoutTarget val="inner"/>
          <c:xMode val="edge"/>
          <c:yMode val="edge"/>
          <c:x val="0.0991578947368421"/>
          <c:y val="0.169444444444444"/>
          <c:w val="0.735842105263158"/>
          <c:h val="0.710972222222222"/>
        </c:manualLayout>
      </c:layout>
      <c:lineChart>
        <c:grouping val="stacked"/>
        <c:varyColors val="0"/>
        <c:ser>
          <c:idx val="0"/>
          <c:order val="0"/>
          <c:tx>
            <c:strRef>
              <c:f>'[Bright Coffee Shop Processed data.xlsx]Sheet1'!$B$3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'[Bright Coffee Shop Processed data.xlsx]Sheet1'!$A$4:$A$19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'[Bright Coffee Shop Processed data.xlsx]Sheet1'!$B$4:$B$19</c:f>
              <c:numCache>
                <c:formatCode>General</c:formatCode>
                <c:ptCount val="15"/>
                <c:pt idx="0">
                  <c:v>4580</c:v>
                </c:pt>
                <c:pt idx="1">
                  <c:v>13380</c:v>
                </c:pt>
                <c:pt idx="2">
                  <c:v>17566</c:v>
                </c:pt>
                <c:pt idx="3">
                  <c:v>17668</c:v>
                </c:pt>
                <c:pt idx="4">
                  <c:v>18444</c:v>
                </c:pt>
                <c:pt idx="5">
                  <c:v>9751</c:v>
                </c:pt>
                <c:pt idx="6">
                  <c:v>8694</c:v>
                </c:pt>
                <c:pt idx="7">
                  <c:v>8714</c:v>
                </c:pt>
                <c:pt idx="8">
                  <c:v>8929</c:v>
                </c:pt>
                <c:pt idx="9">
                  <c:v>8971</c:v>
                </c:pt>
                <c:pt idx="10">
                  <c:v>9093</c:v>
                </c:pt>
                <c:pt idx="11">
                  <c:v>8745</c:v>
                </c:pt>
                <c:pt idx="12">
                  <c:v>7486</c:v>
                </c:pt>
                <c:pt idx="13">
                  <c:v>6086</c:v>
                </c:pt>
                <c:pt idx="14">
                  <c:v>603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2635805"/>
        <c:axId val="962809119"/>
      </c:lineChart>
      <c:catAx>
        <c:axId val="91263580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62809119"/>
        <c:crosses val="autoZero"/>
        <c:auto val="1"/>
        <c:lblAlgn val="ctr"/>
        <c:lblOffset val="100"/>
        <c:noMultiLvlLbl val="0"/>
      </c:catAx>
      <c:valAx>
        <c:axId val="962809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GB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126358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GB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11928924-f6ca-4c56-9b0b-44abeaa059c8}"/>
      </c:ext>
    </c:extLst>
  </c:chart>
  <c:spPr>
    <a:noFill/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6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Chart 2"/>
          <p:cNvGraphicFramePr/>
          <p:nvPr/>
        </p:nvGraphicFramePr>
        <p:xfrm>
          <a:off x="797560" y="2036445"/>
          <a:ext cx="4826000" cy="337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5892165" y="1973580"/>
          <a:ext cx="5614670" cy="3371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971550" y="306070"/>
            <a:ext cx="49834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ZA" altLang="en-GB" sz="2800" b="1"/>
              <a:t>REVENUE PER STORE LOCATION 	</a:t>
            </a:r>
            <a:endParaRPr lang="en-ZA" altLang="en-GB" sz="2800" b="1"/>
          </a:p>
        </p:txBody>
      </p:sp>
      <p:sp>
        <p:nvSpPr>
          <p:cNvPr id="5" name="TextBox 4"/>
          <p:cNvSpPr txBox="1"/>
          <p:nvPr/>
        </p:nvSpPr>
        <p:spPr>
          <a:xfrm>
            <a:off x="304800" y="5406390"/>
            <a:ext cx="11364595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defRPr sz="1600" b="1"/>
            </a:pPr>
            <a:r>
              <a:rPr sz="1400"/>
              <a:t>Insights:</a:t>
            </a:r>
            <a:endParaRPr sz="1400"/>
          </a:p>
          <a:p>
            <a:pPr>
              <a:defRPr sz="1200"/>
            </a:pPr>
            <a:r>
              <a:rPr sz="1400"/>
              <a:t>• Astoria shows the strongest performance — likely due to higher customer traffic.</a:t>
            </a:r>
            <a:endParaRPr sz="1400"/>
          </a:p>
          <a:p>
            <a:pPr>
              <a:defRPr sz="1200"/>
            </a:pPr>
            <a:r>
              <a:rPr sz="1400"/>
              <a:t>• Underperforming stores may need local promotions or product mix optimization.</a:t>
            </a:r>
            <a:endParaRPr sz="1400"/>
          </a:p>
        </p:txBody>
      </p:sp>
      <p:sp>
        <p:nvSpPr>
          <p:cNvPr id="7" name="Text Box 6"/>
          <p:cNvSpPr txBox="1"/>
          <p:nvPr/>
        </p:nvSpPr>
        <p:spPr>
          <a:xfrm>
            <a:off x="388620" y="1071245"/>
            <a:ext cx="10597515" cy="545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000" b="1">
                <a:sym typeface="+mn-ea"/>
              </a:rPr>
              <a:t>Revenue variance between locations indicates potential differences in marketing or customer base</a:t>
            </a:r>
            <a:r>
              <a:rPr lang="en-ZA">
                <a:sym typeface="+mn-ea"/>
              </a:rPr>
              <a:t>.</a:t>
            </a:r>
            <a:endParaRPr lang="en-ZA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82260" cy="574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p>
            <a:r>
              <a:rPr lang="en-ZA" altLang="en-GB" sz="2665" b="1"/>
              <a:t>REVENUE PER DAY </a:t>
            </a:r>
            <a:r>
              <a:rPr lang="en-ZA" altLang="en-GB"/>
              <a:t> </a:t>
            </a:r>
            <a:endParaRPr lang="en-ZA" altLang="en-GB"/>
          </a:p>
        </p:txBody>
      </p:sp>
      <p:graphicFrame>
        <p:nvGraphicFramePr>
          <p:cNvPr id="8" name="Chart 7"/>
          <p:cNvGraphicFramePr/>
          <p:nvPr/>
        </p:nvGraphicFramePr>
        <p:xfrm>
          <a:off x="1049655" y="1965325"/>
          <a:ext cx="5953760" cy="3862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3307080" y="467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371080" y="2749550"/>
            <a:ext cx="4112895" cy="3625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GB" sz="1400" b="1"/>
              <a:t>based on typical patterns and prior data</a:t>
            </a:r>
            <a:endParaRPr lang="en-US" altLang="en-GB" sz="1400" b="1"/>
          </a:p>
          <a:p>
            <a:endParaRPr lang="en-US" altLang="en-GB" sz="1400"/>
          </a:p>
          <a:p>
            <a:r>
              <a:rPr lang="en-US" altLang="en-GB" sz="1400"/>
              <a:t>Weekends contribute ~30–35% of weekly revenue.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Weekdays account for ~65–70%, but are more predictable.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The Friday–Sunday window often produces 40–45% of total weekly sales.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Monday is the slowest day — ideal for operational resets or promotions.</a:t>
            </a:r>
            <a:endParaRPr lang="en-US" altLang="en-GB" sz="1400"/>
          </a:p>
        </p:txBody>
      </p:sp>
      <p:sp>
        <p:nvSpPr>
          <p:cNvPr id="2" name="Text Box 1"/>
          <p:cNvSpPr txBox="1"/>
          <p:nvPr/>
        </p:nvSpPr>
        <p:spPr>
          <a:xfrm>
            <a:off x="1049655" y="1273175"/>
            <a:ext cx="7392670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000" b="1"/>
              <a:t>Revenue concentration: weekends + mornings = key profit drivers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576705" y="601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ZA" altLang="en-GB" b="1"/>
              <a:t>REVENUE PER PRODUCT PER CATEGORY</a:t>
            </a:r>
            <a:r>
              <a:rPr lang="en-ZA" altLang="en-GB"/>
              <a:t>  </a:t>
            </a:r>
            <a:endParaRPr lang="en-ZA" altLang="en-GB"/>
          </a:p>
        </p:txBody>
      </p:sp>
      <p:graphicFrame>
        <p:nvGraphicFramePr>
          <p:cNvPr id="4" name="Chart 3"/>
          <p:cNvGraphicFramePr/>
          <p:nvPr/>
        </p:nvGraphicFramePr>
        <p:xfrm>
          <a:off x="1050290" y="2141855"/>
          <a:ext cx="6090285" cy="358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14055" y="2683510"/>
            <a:ext cx="2743200" cy="23279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defRPr sz="1600" b="1"/>
            </a:pPr>
            <a:r>
              <a:t>Insights:</a:t>
            </a:r>
          </a:p>
          <a:p>
            <a:pPr>
              <a:defRPr sz="1200"/>
            </a:pPr>
            <a:r>
              <a:t>• Espresso drinks and pastries are top revenue categories.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Profitability analysis needed — not all high-revenue products have high margins.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Cross-sell combos can increase total basket value.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243965" y="1484630"/>
            <a:ext cx="9603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/>
              <a:t>Strong cross-category dependencies (coffee </a:t>
            </a:r>
            <a:r>
              <a:rPr lang="en-US" altLang="en-US" b="1"/>
              <a:t>→</a:t>
            </a:r>
            <a:r>
              <a:rPr lang="en-US" altLang="en-GB" b="1"/>
              <a:t> pastry </a:t>
            </a:r>
            <a:r>
              <a:rPr lang="en-US" altLang="en-US" b="1"/>
              <a:t>→</a:t>
            </a:r>
            <a:r>
              <a:rPr lang="en-US" altLang="en-GB" b="1"/>
              <a:t> meal) suggest potential in bundled pricing and loyalty-driven combos.</a:t>
            </a:r>
            <a:endParaRPr lang="en-US" altLang="en-GB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/>
          <p:nvPr/>
        </p:nvGraphicFramePr>
        <p:xfrm>
          <a:off x="1550035" y="2223135"/>
          <a:ext cx="5850255" cy="343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1766570" y="850900"/>
            <a:ext cx="4064000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ZA" altLang="en-GB" sz="2400" b="1"/>
              <a:t>HOURLY REVENUE TREND </a:t>
            </a:r>
            <a:endParaRPr lang="en-ZA" altLang="en-GB" sz="2400"/>
          </a:p>
        </p:txBody>
      </p:sp>
      <p:sp>
        <p:nvSpPr>
          <p:cNvPr id="4" name="TextBox 3"/>
          <p:cNvSpPr txBox="1"/>
          <p:nvPr/>
        </p:nvSpPr>
        <p:spPr>
          <a:xfrm>
            <a:off x="7807960" y="2959735"/>
            <a:ext cx="3832860" cy="2813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en-GB" sz="1400"/>
              <a:t>A morning surge starting around 7 AM, peaking between 8–10 AM, driven by commuters and breakfast orders.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A steady decline late morning, followed by a moderate afternoon recovery around 12–2 PM (lunch traffic).</a:t>
            </a:r>
            <a:endParaRPr lang="en-US" altLang="en-GB" sz="1400"/>
          </a:p>
          <a:p>
            <a:endParaRPr lang="en-US" altLang="en-GB" sz="1400"/>
          </a:p>
          <a:p>
            <a:r>
              <a:rPr lang="en-US" altLang="en-GB" sz="1400"/>
              <a:t>Revenue tapers off sharply after 8 PM, reaching minimal levels overnight.</a:t>
            </a:r>
            <a:endParaRPr lang="en-US" altLang="en-GB" sz="1400"/>
          </a:p>
        </p:txBody>
      </p:sp>
      <p:sp>
        <p:nvSpPr>
          <p:cNvPr id="6" name="Text Box 5"/>
          <p:cNvSpPr txBox="1"/>
          <p:nvPr/>
        </p:nvSpPr>
        <p:spPr>
          <a:xfrm>
            <a:off x="1656080" y="1588770"/>
            <a:ext cx="915098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The data confirms that coffee consumption is habit-driven; morning volume drives profitability</a:t>
            </a:r>
            <a:r>
              <a:rPr lang="en-US" altLang="en-GB" b="1"/>
              <a:t>.</a:t>
            </a:r>
            <a:endParaRPr lang="en-GB" alt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1413</Words>
  <Application>WPS Presentation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REVENUE PER DAY 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andyn</dc:creator>
  <cp:lastModifiedBy>andyn</cp:lastModifiedBy>
  <cp:revision>5</cp:revision>
  <dcterms:created xsi:type="dcterms:W3CDTF">2025-07-23T00:59:00Z</dcterms:created>
  <dcterms:modified xsi:type="dcterms:W3CDTF">2025-11-11T20:34:51Z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CB1210FC1E6043068D925AD6DFDF0E7B_13</vt:lpwstr>
  </property>
  <property fmtid="{D5CDD505-2E9C-101B-9397-08002B2CF9AE}" pid="3" name="KSOProductBuildVer">
    <vt:lpwstr>2057-12.2.0.23155</vt:lpwstr>
  </property>
</Properties>
</file>